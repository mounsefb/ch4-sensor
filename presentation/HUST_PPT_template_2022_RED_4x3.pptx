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33" Type="http://schemas.openxmlformats.org/officeDocument/2006/relationships/font" Target="fonts/Lato-bold.fntdata"/><Relationship Id="rId10" Type="http://schemas.openxmlformats.org/officeDocument/2006/relationships/slide" Target="slides/slide6.xml"/><Relationship Id="rId32" Type="http://schemas.openxmlformats.org/officeDocument/2006/relationships/font" Target="fonts/Lato-regular.fntdata"/><Relationship Id="rId13" Type="http://schemas.openxmlformats.org/officeDocument/2006/relationships/slide" Target="slides/slide9.xml"/><Relationship Id="rId35" Type="http://schemas.openxmlformats.org/officeDocument/2006/relationships/font" Target="fonts/Lato-boldItalic.fntdata"/><Relationship Id="rId12" Type="http://schemas.openxmlformats.org/officeDocument/2006/relationships/slide" Target="slides/slide8.xml"/><Relationship Id="rId34" Type="http://schemas.openxmlformats.org/officeDocument/2006/relationships/font" Target="fonts/Lato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05916a7a2_5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e05916a7a2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2e05916a7a2_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e05916a7a2_6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2e05916a7a2_6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e05916a7a2_6_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e05916a7a2_6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2e05916a7a2_6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05916a7a2_6_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e05916a7a2_6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2e05916a7a2_6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e05916a7a2_6_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e05916a7a2_6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2e05916a7a2_6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05916a7a2_6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2e05916a7a2_6_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05916a7a2_6_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e05916a7a2_6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2e05916a7a2_6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e05916a7a2_6_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e05916a7a2_6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2e05916a7a2_6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05916a7a2_6_1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e05916a7a2_6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2e05916a7a2_6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e05916a7a2_6_1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e05916a7a2_6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2e05916a7a2_6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e05916a7a2_6_1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e05916a7a2_6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2e05916a7a2_6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e05916a7a2_6_1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e05916a7a2_6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e05916a7a2_6_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e05916a7a2_6_20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e05916a7a2_6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2e05916a7a2_6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05916a7a2_6_10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e05916a7a2_6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e05916a7a2_6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1" i="0" sz="4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5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5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2" type="body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0"/>
          <p:cNvSpPr txBox="1"/>
          <p:nvPr>
            <p:ph idx="2" type="body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mparison">
  <p:cSld name="2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2"/>
          <p:cNvSpPr txBox="1"/>
          <p:nvPr>
            <p:ph idx="2" type="body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mparison">
  <p:cSld name="3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13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2380500" y="2448300"/>
            <a:ext cx="4383000" cy="19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Design of a 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Mobile IoT Device 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for Real-time 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CH4 Monitoring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-9701" y="2030850"/>
            <a:ext cx="81879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4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State of the art </a:t>
            </a:r>
            <a:endParaRPr b="1" sz="5400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4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and on-site board design </a:t>
            </a:r>
            <a:endParaRPr b="1" sz="5400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Lato"/>
              <a:buNone/>
            </a:pPr>
            <a:r>
              <a:t/>
            </a:r>
            <a:endParaRPr b="1" sz="5400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13012" y="3567622"/>
            <a:ext cx="73425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en-US" sz="28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Presentation of the project</a:t>
            </a:r>
            <a:endParaRPr b="0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en-US" sz="28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State of the art</a:t>
            </a:r>
            <a:endParaRPr b="0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en-US" sz="28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On-site board design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527120" y="2561080"/>
            <a:ext cx="53976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of the project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540075" y="3347390"/>
            <a:ext cx="5384700" cy="1881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Goals and </a:t>
            </a:r>
            <a:r>
              <a:rPr lang="en-US"/>
              <a:t>targets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Main checkpoints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-"/>
            </a:pPr>
            <a:r>
              <a:rPr lang="en-US">
                <a:solidFill>
                  <a:srgbClr val="FF0000"/>
                </a:solidFill>
              </a:rPr>
              <a:t>( project progress prevision 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gantt diagram, … 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9"/>
          <p:cNvSpPr/>
          <p:nvPr>
            <p:ph idx="2" type="chart"/>
          </p:nvPr>
        </p:nvSpPr>
        <p:spPr>
          <a:xfrm>
            <a:off x="247651" y="1406769"/>
            <a:ext cx="432435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development a mobile IoT device for real-time monitoring of methane gas levels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device should be able to 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CH4 concentrations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transmit data for real-time monitoring and analysis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targets 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agriculture applications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9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8070" r="28075" t="0"/>
          <a:stretch/>
        </p:blipFill>
        <p:spPr>
          <a:xfrm>
            <a:off x="4660869" y="1406769"/>
            <a:ext cx="4083845" cy="465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Presentation of the project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20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Presentation of the project</a:t>
            </a:r>
            <a:endParaRPr/>
          </a:p>
        </p:txBody>
      </p:sp>
      <p:sp>
        <p:nvSpPr>
          <p:cNvPr id="114" name="Google Shape;114;p20"/>
          <p:cNvSpPr/>
          <p:nvPr>
            <p:ph idx="2" type="chart"/>
          </p:nvPr>
        </p:nvSpPr>
        <p:spPr>
          <a:xfrm>
            <a:off x="9468075" y="639301"/>
            <a:ext cx="8673900" cy="55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tasks 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Design a portable IoT device equipped with CH4 gas sensors for accurate real-time monitoring.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a. Sensors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Device self-sufficiency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Develop firmware for data acquisition and wireless transmission to enable remote monitoring.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a. Data acquisition approach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b. Data transmission approach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Implement a user-friendly mobile application for real-time data visualization.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Ensure the device is power-efficient and capable of wireless connectivity for seamless data transfer.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Evaluate the system's performance, accuracy, and reliability in different CH4 monitoring scenarios.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0"/>
          <p:cNvSpPr/>
          <p:nvPr/>
        </p:nvSpPr>
        <p:spPr>
          <a:xfrm rot="-780059">
            <a:off x="6993683" y="3520619"/>
            <a:ext cx="1820260" cy="84664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 flipH="1" rot="780059">
            <a:off x="5270104" y="3520619"/>
            <a:ext cx="1820260" cy="84664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" name="Google Shape;117;p20"/>
          <p:cNvGrpSpPr/>
          <p:nvPr/>
        </p:nvGrpSpPr>
        <p:grpSpPr>
          <a:xfrm>
            <a:off x="5817397" y="3603251"/>
            <a:ext cx="2297587" cy="1443579"/>
            <a:chOff x="5796625" y="2541798"/>
            <a:chExt cx="1712700" cy="978300"/>
          </a:xfrm>
        </p:grpSpPr>
        <p:sp>
          <p:nvSpPr>
            <p:cNvPr id="118" name="Google Shape;118;p20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0"/>
            <p:cNvSpPr/>
            <p:nvPr/>
          </p:nvSpPr>
          <p:spPr>
            <a:xfrm>
              <a:off x="5796625" y="2816598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0"/>
            <p:cNvSpPr txBox="1"/>
            <p:nvPr/>
          </p:nvSpPr>
          <p:spPr>
            <a:xfrm>
              <a:off x="5840875" y="2759175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2352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Ensure the device is power-efficient and capable of wireless connectivity for seamless data transfer and evaluation of performance</a:t>
              </a:r>
              <a:endParaRPr b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20"/>
            <p:cNvSpPr/>
            <p:nvPr/>
          </p:nvSpPr>
          <p:spPr>
            <a:xfrm>
              <a:off x="6607975" y="2751949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0"/>
          <p:cNvSpPr/>
          <p:nvPr/>
        </p:nvSpPr>
        <p:spPr>
          <a:xfrm rot="-780059">
            <a:off x="3551534" y="3520619"/>
            <a:ext cx="1820260" cy="84664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20"/>
          <p:cNvGrpSpPr/>
          <p:nvPr/>
        </p:nvGrpSpPr>
        <p:grpSpPr>
          <a:xfrm>
            <a:off x="4136390" y="2068616"/>
            <a:ext cx="2297587" cy="1454335"/>
            <a:chOff x="4409291" y="1481107"/>
            <a:chExt cx="1712700" cy="985589"/>
          </a:xfrm>
        </p:grpSpPr>
        <p:sp>
          <p:nvSpPr>
            <p:cNvPr id="124" name="Google Shape;124;p20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4409291" y="1481107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 rot="10800000">
              <a:off x="5220616" y="218020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 txBox="1"/>
            <p:nvPr/>
          </p:nvSpPr>
          <p:spPr>
            <a:xfrm>
              <a:off x="4453513" y="1556275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2352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 a user-friendly mobile application for real-time data visualization.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 rot="780059">
            <a:off x="1818643" y="3520362"/>
            <a:ext cx="1820260" cy="84664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20"/>
          <p:cNvGrpSpPr/>
          <p:nvPr/>
        </p:nvGrpSpPr>
        <p:grpSpPr>
          <a:xfrm>
            <a:off x="2450931" y="3603251"/>
            <a:ext cx="2297587" cy="1441003"/>
            <a:chOff x="3021975" y="2541798"/>
            <a:chExt cx="1712700" cy="976554"/>
          </a:xfrm>
        </p:grpSpPr>
        <p:sp>
          <p:nvSpPr>
            <p:cNvPr id="130" name="Google Shape;130;p20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0"/>
            <p:cNvSpPr/>
            <p:nvPr/>
          </p:nvSpPr>
          <p:spPr>
            <a:xfrm>
              <a:off x="3021975" y="281485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 txBox="1"/>
            <p:nvPr/>
          </p:nvSpPr>
          <p:spPr>
            <a:xfrm>
              <a:off x="3066225" y="285205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2352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firmware for data acquisition and wireless transmission to enable remote monitoring.</a:t>
              </a:r>
              <a:endParaRPr b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3833325" y="275020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20"/>
          <p:cNvSpPr/>
          <p:nvPr/>
        </p:nvSpPr>
        <p:spPr>
          <a:xfrm rot="-780059">
            <a:off x="109395" y="3520619"/>
            <a:ext cx="1820260" cy="84664"/>
          </a:xfrm>
          <a:prstGeom prst="roundRect">
            <a:avLst>
              <a:gd fmla="val 50000" name="adj"/>
            </a:avLst>
          </a:prstGeom>
          <a:solidFill>
            <a:srgbClr val="C020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" name="Google Shape;135;p20"/>
          <p:cNvGrpSpPr/>
          <p:nvPr/>
        </p:nvGrpSpPr>
        <p:grpSpPr>
          <a:xfrm>
            <a:off x="702739" y="2118816"/>
            <a:ext cx="2297587" cy="1425400"/>
            <a:chOff x="1634633" y="1321105"/>
            <a:chExt cx="1712700" cy="965980"/>
          </a:xfrm>
        </p:grpSpPr>
        <p:sp>
          <p:nvSpPr>
            <p:cNvPr id="136" name="Google Shape;136;p20"/>
            <p:cNvSpPr/>
            <p:nvPr/>
          </p:nvSpPr>
          <p:spPr>
            <a:xfrm>
              <a:off x="1634633" y="1321105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C02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 rot="10800000">
              <a:off x="2445958" y="2020198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C020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0"/>
            <p:cNvSpPr txBox="1"/>
            <p:nvPr/>
          </p:nvSpPr>
          <p:spPr>
            <a:xfrm>
              <a:off x="1678883" y="1321110"/>
              <a:ext cx="1624200" cy="4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2352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a portable IoT device equipped with CH4 gas sensors for accurate real-time monitoring.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" name="Google Shape;139;p20"/>
            <p:cNvSpPr/>
            <p:nvPr/>
          </p:nvSpPr>
          <p:spPr>
            <a:xfrm rot="-1789476">
              <a:off x="2410765" y="209735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C020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</a:pPr>
            <a:r>
              <a:rPr lang="en-US"/>
              <a:t>State of the art</a:t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3517776" y="664363"/>
            <a:ext cx="5384700" cy="55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What is CH4?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Why focus on CH4 instead of other gases?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How can methane levels be measured?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What level of precision is required in agriculture?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What sensors are currently available on the market or being developed by researchers?</a:t>
            </a:r>
            <a:endParaRPr/>
          </a:p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Introduction to Methane (CH4)</a:t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528828" y="1423289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Methane Sources: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Naturally present in soil, water, and the atmosphere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Released by human activities (e.g., agriculture, rice paddies)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Constitutes 60% of natural gas fossil deposits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Produced by forced anaerobic fermentation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Uses: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Electricity, heating, automotive fuel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Hazards: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Highly flammable and explosive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rgbClr val="C00000"/>
                </a:solidFill>
              </a:rPr>
              <a:t>‹#›</a:t>
            </a:fld>
            <a:endParaRPr>
              <a:solidFill>
                <a:srgbClr val="C00000"/>
              </a:solidFill>
            </a:endParaRPr>
          </a:p>
        </p:txBody>
      </p:sp>
      <p:pic>
        <p:nvPicPr>
          <p:cNvPr id="154" name="Google Shape;154;p22" title="Methane molecule 3D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875" y="1755447"/>
            <a:ext cx="2552224" cy="2552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 title="File:Methane-2D-small.png - Wikimedia Common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5803" y="3975498"/>
            <a:ext cx="2200539" cy="2291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3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Environmental Impact of Methane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4866403" y="1875889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Greenhouse Gas Contribution: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Second most important greenhouse gas after water vapor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Absorbs infrared radiation, contributing to global warming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Sources of Emissions: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Anaerobic fermentation in wetlands, rice paddies, hydroelectric dams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Fossil fuels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112" y="1641438"/>
            <a:ext cx="3768074" cy="376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4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Methane Detection</a:t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4905475" y="2321245"/>
            <a:ext cx="38862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Detection Methods: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Satellite or on-site sensors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Objective: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Reducing methane emissions is more cost-effective and efficient for mitigating global warming compared to reducing CO2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75" y="1522970"/>
            <a:ext cx="2547825" cy="25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8250" y="3969198"/>
            <a:ext cx="3212126" cy="17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25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Mitigation Strategies and Gas Sensor Functionality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1881675" y="1442475"/>
            <a:ext cx="5839800" cy="178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Strategies: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Sensors + burning or distillation purification of CH4 emissions        =&gt; reduction of CO2 emission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Modify cattle diets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Rice cultivation: reduce fertilizer use, combat water turbidity, and reduce methanogenic sediment production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1881675" y="4359000"/>
            <a:ext cx="5507700" cy="127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Types of Gas Sensors: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Electrochemical Sensors: Detect CO and SO2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Semiconductor Sensors: Sensitive to a wide range of gases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Infrared Sensors: Detect CH4 and CO2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 txBox="1"/>
          <p:nvPr/>
        </p:nvSpPr>
        <p:spPr>
          <a:xfrm rot="5400000">
            <a:off x="3848925" y="3619724"/>
            <a:ext cx="1051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=</a:t>
            </a:r>
            <a:r>
              <a:rPr lang="en-US" sz="3000"/>
              <a:t>=</a:t>
            </a:r>
            <a:r>
              <a:rPr lang="en-US" sz="3100">
                <a:solidFill>
                  <a:srgbClr val="040C28"/>
                </a:solidFill>
                <a:highlight>
                  <a:srgbClr val="FFFFFF"/>
                </a:highlight>
              </a:rPr>
              <a:t>&gt;</a:t>
            </a:r>
            <a:endParaRPr sz="3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Market-Available Sensors</a:t>
            </a:r>
            <a:endParaRPr/>
          </a:p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234950" y="1227550"/>
            <a:ext cx="8674200" cy="48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MQ4 Sensor: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Detection range: 200-10000 ppm CH4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MQ6 Sensor: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Detection range: 300-10000 ppm (Propane and Methane)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MQ Sensor family :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Semiconductor sensor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Long</a:t>
            </a: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range of sensitivity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Low price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Low consumption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Unrestricted use condition ( high range of temperatures resistance, high resistance from humidity, …)</a:t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75" y="5154775"/>
            <a:ext cx="6132876" cy="6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4375" y="5154763"/>
            <a:ext cx="260985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/>
        </p:nvSpPr>
        <p:spPr>
          <a:xfrm>
            <a:off x="3389900" y="6004575"/>
            <a:ext cx="23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Extract of MQ4 datasheet</a:t>
            </a:r>
            <a:endParaRPr b="1"/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1725" y="1227550"/>
            <a:ext cx="1437550" cy="143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4148" y="2410425"/>
            <a:ext cx="1258451" cy="115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27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Steps for Implementation</a:t>
            </a:r>
            <a:endParaRPr/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235075" y="2275675"/>
            <a:ext cx="8248500" cy="25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Embedded Board: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Find a suitable methane sensor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a microprocessor to acquire data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Transmit data to the cloud, stored on platforms like ThingSpeak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User's Phone: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Develop a mobile application to retrieve, process, and display data in real-time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3511295" y="224917"/>
            <a:ext cx="5397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</a:pPr>
            <a:r>
              <a:rPr lang="en-US"/>
              <a:t>On-site board design </a:t>
            </a:r>
            <a:endParaRPr/>
          </a:p>
        </p:txBody>
      </p:sp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3517750" y="1042833"/>
            <a:ext cx="5384700" cy="15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3375" lvl="0" marL="45720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Clr>
                <a:srgbClr val="0D0D0D"/>
              </a:buClr>
              <a:buSzPts val="1650"/>
              <a:buFont typeface="Roboto"/>
              <a:buChar char="-"/>
            </a:pPr>
            <a:r>
              <a:rPr b="1" lang="en-US" sz="165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On-site Board Requirements</a:t>
            </a:r>
            <a:endParaRPr b="1" sz="165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50"/>
              <a:buFont typeface="Roboto"/>
              <a:buChar char="-"/>
            </a:pPr>
            <a:r>
              <a:rPr b="1" lang="en-US" sz="165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Power Supply and Autonomy</a:t>
            </a:r>
            <a:endParaRPr b="1" sz="165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50"/>
              <a:buFont typeface="Roboto"/>
              <a:buChar char="-"/>
            </a:pPr>
            <a:r>
              <a:rPr b="1" lang="en-US" sz="165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Component choices</a:t>
            </a:r>
            <a:endParaRPr b="1" sz="165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8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29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On-site Board Requirements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/>
          <p:cNvSpPr txBox="1"/>
          <p:nvPr>
            <p:ph idx="1" type="body"/>
          </p:nvPr>
        </p:nvSpPr>
        <p:spPr>
          <a:xfrm>
            <a:off x="235075" y="2275675"/>
            <a:ext cx="7662300" cy="25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Components: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Methane sensor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GSM/3G module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Battery and autonomous battery charger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STM32 microcontroller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Communication Options: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Cellular device with SIM card (e.g., SIM800, SIM900)</a:t>
            </a:r>
            <a:endParaRPr sz="20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30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Power Supply and Autonomy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 txBox="1"/>
          <p:nvPr>
            <p:ph idx="1" type="body"/>
          </p:nvPr>
        </p:nvSpPr>
        <p:spPr>
          <a:xfrm>
            <a:off x="235075" y="1494125"/>
            <a:ext cx="8248500" cy="394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Power Options: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Battery-powered system for portability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Solar-powered recharging system using an on-board solar cell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Environmental Constraints: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Temperature range: 0°C to 50°C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Humidity resistance: Up to 95%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Energy Autonomy: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Renewable energies: solar and wind power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31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Communication module</a:t>
            </a:r>
            <a:r>
              <a:rPr lang="en-US"/>
              <a:t> </a:t>
            </a:r>
            <a:endParaRPr/>
          </a:p>
        </p:txBody>
      </p:sp>
      <p:sp>
        <p:nvSpPr>
          <p:cNvPr id="234" name="Google Shape;234;p31"/>
          <p:cNvSpPr txBox="1"/>
          <p:nvPr>
            <p:ph idx="1" type="body"/>
          </p:nvPr>
        </p:nvSpPr>
        <p:spPr>
          <a:xfrm>
            <a:off x="234950" y="1227550"/>
            <a:ext cx="5239800" cy="196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/>
              <a:t>Several devices are possible: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- a WiFi device, such as ESP8266 or ESP32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- a low-energy Bluetooth device, such as Nordic nRF52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- a LoRa device, such as RFM95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/>
              <a:t>- </a:t>
            </a:r>
            <a:r>
              <a:rPr lang="en-US" sz="1600">
                <a:solidFill>
                  <a:srgbClr val="C00000"/>
                </a:solidFill>
              </a:rPr>
              <a:t>a cellular device =&gt; self-sufficient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5474750" y="1245325"/>
            <a:ext cx="56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}</a:t>
            </a:r>
            <a:endParaRPr sz="7200"/>
          </a:p>
        </p:txBody>
      </p:sp>
      <p:sp>
        <p:nvSpPr>
          <p:cNvPr id="236" name="Google Shape;236;p31"/>
          <p:cNvSpPr txBox="1"/>
          <p:nvPr/>
        </p:nvSpPr>
        <p:spPr>
          <a:xfrm>
            <a:off x="6041450" y="1476175"/>
            <a:ext cx="258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n</a:t>
            </a:r>
            <a:r>
              <a:rPr lang="en-US" sz="1600"/>
              <a:t>ot sufficient on their own </a:t>
            </a:r>
            <a:endParaRPr sz="1600"/>
          </a:p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require a gateway</a:t>
            </a:r>
            <a:endParaRPr sz="1600"/>
          </a:p>
        </p:txBody>
      </p:sp>
      <p:pic>
        <p:nvPicPr>
          <p:cNvPr id="237" name="Google Shape;23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44950"/>
            <a:ext cx="43434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1"/>
          <p:cNvSpPr txBox="1"/>
          <p:nvPr/>
        </p:nvSpPr>
        <p:spPr>
          <a:xfrm>
            <a:off x="4339650" y="2902900"/>
            <a:ext cx="49647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6818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A low-cost</a:t>
            </a:r>
            <a:endParaRPr sz="1600"/>
          </a:p>
          <a:p>
            <a:pPr indent="-330200" lvl="0" marL="457200" rtl="0" algn="l">
              <a:lnSpc>
                <a:spcPct val="6818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Highly functional</a:t>
            </a:r>
            <a:endParaRPr sz="1600"/>
          </a:p>
          <a:p>
            <a:pPr indent="-330200" lvl="0" marL="457200" rtl="0" algn="l">
              <a:lnSpc>
                <a:spcPct val="6818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Compact</a:t>
            </a:r>
            <a:endParaRPr sz="1600"/>
          </a:p>
          <a:p>
            <a:pPr indent="-330200" lvl="0" marL="457200" rtl="0" algn="l">
              <a:lnSpc>
                <a:spcPct val="6818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Low-power operation and can be battery powered</a:t>
            </a:r>
            <a:endParaRPr sz="1600"/>
          </a:p>
          <a:p>
            <a:pPr indent="-330200" lvl="0" marL="457200" rtl="0" algn="l">
              <a:lnSpc>
                <a:spcPct val="6818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GPRS module =&gt; TCP/IP protocol =&gt; Internet access</a:t>
            </a:r>
            <a:endParaRPr sz="1600"/>
          </a:p>
          <a:p>
            <a:pPr indent="0" lvl="0" marL="45720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6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0000"/>
                </a:solidFill>
              </a:rPr>
              <a:t>BUT</a:t>
            </a:r>
            <a:endParaRPr b="1" sz="16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Peak current required  = 2 A &gt;&gt; Microcontroller Supply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=&gt; a separate DC/DC regulator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32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Microcontroller</a:t>
            </a:r>
            <a:endParaRPr/>
          </a:p>
        </p:txBody>
      </p:sp>
      <p:sp>
        <p:nvSpPr>
          <p:cNvPr id="246" name="Google Shape;246;p32"/>
          <p:cNvSpPr txBox="1"/>
          <p:nvPr/>
        </p:nvSpPr>
        <p:spPr>
          <a:xfrm>
            <a:off x="168000" y="1297350"/>
            <a:ext cx="4251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Key points to decide :</a:t>
            </a:r>
            <a:endParaRPr sz="16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power consumption</a:t>
            </a:r>
            <a:endParaRPr sz="16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portability</a:t>
            </a:r>
            <a:endParaRPr sz="16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resistance to environmental conditions</a:t>
            </a:r>
            <a:endParaRPr sz="16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board autonomy</a:t>
            </a:r>
            <a:endParaRPr sz="1600"/>
          </a:p>
        </p:txBody>
      </p:sp>
      <p:sp>
        <p:nvSpPr>
          <p:cNvPr id="247" name="Google Shape;247;p32"/>
          <p:cNvSpPr txBox="1"/>
          <p:nvPr/>
        </p:nvSpPr>
        <p:spPr>
          <a:xfrm>
            <a:off x="4517375" y="1281900"/>
            <a:ext cx="56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}</a:t>
            </a:r>
            <a:endParaRPr sz="7200"/>
          </a:p>
        </p:txBody>
      </p:sp>
      <p:sp>
        <p:nvSpPr>
          <p:cNvPr id="248" name="Google Shape;248;p32"/>
          <p:cNvSpPr txBox="1"/>
          <p:nvPr/>
        </p:nvSpPr>
        <p:spPr>
          <a:xfrm>
            <a:off x="4986400" y="1358850"/>
            <a:ext cx="4032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Two categories fit :</a:t>
            </a:r>
            <a:endParaRPr sz="1600"/>
          </a:p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/>
              <a:t>STM32L0</a:t>
            </a:r>
            <a:r>
              <a:rPr lang="en-US" sz="1600"/>
              <a:t> and </a:t>
            </a:r>
            <a:r>
              <a:rPr b="1" lang="en-US" sz="1600"/>
              <a:t>STM32L4</a:t>
            </a:r>
            <a:endParaRPr b="1" sz="1600"/>
          </a:p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/>
              <a:t>=&gt; Ultra-Low Power microcontrollers</a:t>
            </a:r>
            <a:endParaRPr/>
          </a:p>
        </p:txBody>
      </p:sp>
      <p:pic>
        <p:nvPicPr>
          <p:cNvPr id="249" name="Google Shape;2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550" y="2865750"/>
            <a:ext cx="3876425" cy="25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2"/>
          <p:cNvSpPr txBox="1"/>
          <p:nvPr/>
        </p:nvSpPr>
        <p:spPr>
          <a:xfrm>
            <a:off x="2426675" y="5439500"/>
            <a:ext cx="425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Nucleo-L011K4 with embedded STM32L011K4 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33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supply</a:t>
            </a:r>
            <a:endParaRPr/>
          </a:p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234950" y="1227550"/>
            <a:ext cx="8674200" cy="12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</a:rPr>
              <a:t>B</a:t>
            </a:r>
            <a:r>
              <a:rPr lang="en-US" sz="1800">
                <a:solidFill>
                  <a:srgbClr val="C00000"/>
                </a:solidFill>
              </a:rPr>
              <a:t>attery-powered</a:t>
            </a:r>
            <a:r>
              <a:rPr lang="en-US" sz="1800"/>
              <a:t> system to ensure </a:t>
            </a:r>
            <a:r>
              <a:rPr b="1" lang="en-US" sz="1800"/>
              <a:t>portability</a:t>
            </a:r>
            <a:endParaRPr b="1"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System should be autonomous </a:t>
            </a:r>
            <a:endParaRPr sz="1800"/>
          </a:p>
          <a:p>
            <a:pPr indent="45720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=&gt; </a:t>
            </a:r>
            <a:r>
              <a:rPr lang="en-US" sz="1800">
                <a:solidFill>
                  <a:srgbClr val="C00000"/>
                </a:solidFill>
              </a:rPr>
              <a:t>solar-powered</a:t>
            </a:r>
            <a:r>
              <a:rPr lang="en-US" sz="1800"/>
              <a:t> </a:t>
            </a:r>
            <a:r>
              <a:rPr lang="en-US" sz="1800"/>
              <a:t>charging module with on-board solar cell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59" name="Google Shape;25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75" y="2411150"/>
            <a:ext cx="5933425" cy="363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4725" y="3511785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 txBox="1"/>
          <p:nvPr/>
        </p:nvSpPr>
        <p:spPr>
          <a:xfrm>
            <a:off x="6337675" y="5315850"/>
            <a:ext cx="267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Battery</a:t>
            </a:r>
            <a:r>
              <a:rPr b="1" lang="en-US"/>
              <a:t> Li-Ion 3.7V 2600mAh</a:t>
            </a:r>
            <a:endParaRPr b="1"/>
          </a:p>
        </p:txBody>
      </p:sp>
      <p:sp>
        <p:nvSpPr>
          <p:cNvPr id="262" name="Google Shape;262;p33"/>
          <p:cNvSpPr txBox="1"/>
          <p:nvPr/>
        </p:nvSpPr>
        <p:spPr>
          <a:xfrm>
            <a:off x="1752338" y="6041275"/>
            <a:ext cx="289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Extract</a:t>
            </a:r>
            <a:r>
              <a:rPr b="1" lang="en-US"/>
              <a:t> of Nucleo-32 datasheet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34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supply</a:t>
            </a:r>
            <a:endParaRPr/>
          </a:p>
        </p:txBody>
      </p:sp>
      <p:sp>
        <p:nvSpPr>
          <p:cNvPr id="270" name="Google Shape;270;p34"/>
          <p:cNvSpPr txBox="1"/>
          <p:nvPr/>
        </p:nvSpPr>
        <p:spPr>
          <a:xfrm>
            <a:off x="184388" y="1271375"/>
            <a:ext cx="877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</a:rPr>
              <a:t>Autonomous</a:t>
            </a:r>
            <a:r>
              <a:rPr lang="en-US" sz="1600"/>
              <a:t> s</a:t>
            </a:r>
            <a:r>
              <a:rPr lang="en-US" sz="1600"/>
              <a:t>ystem =&gt;  two-batteries </a:t>
            </a:r>
            <a:r>
              <a:rPr b="1" lang="en-US" sz="1600"/>
              <a:t>relay</a:t>
            </a:r>
            <a:r>
              <a:rPr lang="en-US" sz="1600"/>
              <a:t> module</a:t>
            </a:r>
            <a:endParaRPr/>
          </a:p>
        </p:txBody>
      </p:sp>
      <p:pic>
        <p:nvPicPr>
          <p:cNvPr id="271" name="Google Shape;27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500" y="1778675"/>
            <a:ext cx="3138122" cy="39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1753" y="1991750"/>
            <a:ext cx="2874499" cy="2874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 txBox="1"/>
          <p:nvPr/>
        </p:nvSpPr>
        <p:spPr>
          <a:xfrm>
            <a:off x="6070300" y="4866250"/>
            <a:ext cx="2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Module 4 Relay 5VDC</a:t>
            </a:r>
            <a:endParaRPr b="1"/>
          </a:p>
        </p:txBody>
      </p:sp>
      <p:sp>
        <p:nvSpPr>
          <p:cNvPr id="274" name="Google Shape;274;p34"/>
          <p:cNvSpPr txBox="1"/>
          <p:nvPr/>
        </p:nvSpPr>
        <p:spPr>
          <a:xfrm>
            <a:off x="746763" y="5635600"/>
            <a:ext cx="386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Theoric s</a:t>
            </a:r>
            <a:r>
              <a:rPr b="1" lang="en-US"/>
              <a:t>chematic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of charging and supply method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5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35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Charger and solar cell</a:t>
            </a:r>
            <a:endParaRPr/>
          </a:p>
        </p:txBody>
      </p:sp>
      <p:pic>
        <p:nvPicPr>
          <p:cNvPr id="282" name="Google Shape;2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00" y="1973750"/>
            <a:ext cx="2802925" cy="280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5"/>
          <p:cNvSpPr txBox="1"/>
          <p:nvPr/>
        </p:nvSpPr>
        <p:spPr>
          <a:xfrm>
            <a:off x="417175" y="4513200"/>
            <a:ext cx="280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Solar Panel + Battery Charger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STEVAL-ISV012V1</a:t>
            </a:r>
            <a:endParaRPr b="1"/>
          </a:p>
        </p:txBody>
      </p:sp>
      <p:sp>
        <p:nvSpPr>
          <p:cNvPr id="284" name="Google Shape;284;p35"/>
          <p:cNvSpPr txBox="1"/>
          <p:nvPr/>
        </p:nvSpPr>
        <p:spPr>
          <a:xfrm>
            <a:off x="4105575" y="2790363"/>
            <a:ext cx="4819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Includes features :</a:t>
            </a:r>
            <a:endParaRPr sz="16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protect the battery against overcharging, 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deep discharge, 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and other potential problems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92" name="Google Shape;292;p36"/>
          <p:cNvSpPr txBox="1"/>
          <p:nvPr>
            <p:ph idx="1" type="body"/>
          </p:nvPr>
        </p:nvSpPr>
        <p:spPr>
          <a:xfrm>
            <a:off x="234925" y="1641023"/>
            <a:ext cx="8674200" cy="309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Summary: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project focuses on developing a methane sensor system for rice fields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Emphasis on reducing methane emissions to mitigate global warming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Combination of low-cost, sensitive sensors and renewable energy sources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Next Step: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Design of a </a:t>
            </a: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detailed</a:t>
            </a: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schematic of the on-site system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37"/>
          <p:cNvSpPr txBox="1"/>
          <p:nvPr/>
        </p:nvSpPr>
        <p:spPr>
          <a:xfrm>
            <a:off x="4181094" y="3021991"/>
            <a:ext cx="4197975" cy="81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Lato"/>
              <a:buNone/>
            </a:pPr>
            <a:r>
              <a:rPr b="1" i="0" lang="en-US" sz="48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